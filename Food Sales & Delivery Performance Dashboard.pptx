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urag Patil" initials="AP" lastIdx="1" clrIdx="0">
    <p:extLst>
      <p:ext uri="{19B8F6BF-5375-455C-9EA6-DF929625EA0E}">
        <p15:presenceInfo xmlns:p15="http://schemas.microsoft.com/office/powerpoint/2012/main" userId="a391140d3e09798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0C6FE730-A0D7-4B58-8E05-F870790BBC3B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F3465027-D080-4F61-95D9-038899523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2303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FE730-A0D7-4B58-8E05-F870790BBC3B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5027-D080-4F61-95D9-038899523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5408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FE730-A0D7-4B58-8E05-F870790BBC3B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5027-D080-4F61-95D9-038899523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0500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FE730-A0D7-4B58-8E05-F870790BBC3B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5027-D080-4F61-95D9-038899523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2245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FE730-A0D7-4B58-8E05-F870790BBC3B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5027-D080-4F61-95D9-038899523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262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FE730-A0D7-4B58-8E05-F870790BBC3B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5027-D080-4F61-95D9-038899523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5584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FE730-A0D7-4B58-8E05-F870790BBC3B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5027-D080-4F61-95D9-038899523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6654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FE730-A0D7-4B58-8E05-F870790BBC3B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5027-D080-4F61-95D9-038899523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2117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FE730-A0D7-4B58-8E05-F870790BBC3B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5027-D080-4F61-95D9-038899523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2303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FE730-A0D7-4B58-8E05-F870790BBC3B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5027-D080-4F61-95D9-038899523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4058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FE730-A0D7-4B58-8E05-F870790BBC3B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5027-D080-4F61-95D9-038899523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48168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FE730-A0D7-4B58-8E05-F870790BBC3B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5027-D080-4F61-95D9-038899523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08324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FE730-A0D7-4B58-8E05-F870790BBC3B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5027-D080-4F61-95D9-038899523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0160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FE730-A0D7-4B58-8E05-F870790BBC3B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5027-D080-4F61-95D9-038899523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69836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FE730-A0D7-4B58-8E05-F870790BBC3B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5027-D080-4F61-95D9-038899523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5453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0C6FE730-A0D7-4B58-8E05-F870790BBC3B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5027-D080-4F61-95D9-038899523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20748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0C6FE730-A0D7-4B58-8E05-F870790BBC3B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5027-D080-4F61-95D9-038899523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843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0C6FE730-A0D7-4B58-8E05-F870790BBC3B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F3465027-D080-4F61-95D9-038899523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0650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B0F8D-B047-EB1C-642B-2DD33923EE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4163" y="751352"/>
            <a:ext cx="8825658" cy="2677648"/>
          </a:xfrm>
        </p:spPr>
        <p:txBody>
          <a:bodyPr/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Food Sales &amp; Delivery Performance Dashboard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D1A534-19DF-BA0E-4B85-6407BDF935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3171" y="3713691"/>
            <a:ext cx="8825658" cy="861420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en-US" sz="8000" cap="none" dirty="0">
                <a:solidFill>
                  <a:schemeClr val="bg2"/>
                </a:solidFill>
              </a:rPr>
              <a:t>This dataset represents a food sales business that tracks orders, customers, delivery persons, and regions. It contains both transaction-level data and summarized pivot tables for analysis.</a:t>
            </a:r>
          </a:p>
          <a:p>
            <a:pPr algn="just"/>
            <a:endParaRPr lang="en-US" cap="none" dirty="0">
              <a:solidFill>
                <a:schemeClr val="bg2"/>
              </a:solidFill>
            </a:endParaRPr>
          </a:p>
          <a:p>
            <a:pPr algn="just"/>
            <a:r>
              <a:rPr lang="en-IN" sz="6000" cap="none" dirty="0">
                <a:solidFill>
                  <a:schemeClr val="bg2"/>
                </a:solidFill>
              </a:rPr>
              <a:t>-By Anurag Patil</a:t>
            </a:r>
            <a:endParaRPr lang="en-US" sz="6000" cap="none" dirty="0">
              <a:solidFill>
                <a:schemeClr val="bg2"/>
              </a:solidFill>
            </a:endParaRPr>
          </a:p>
          <a:p>
            <a:pPr algn="just"/>
            <a:endParaRPr lang="en-US" sz="6000" cap="none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7379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30C9C-6220-4465-0E5E-4A4D52B669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644158"/>
            <a:ext cx="8825658" cy="1137989"/>
          </a:xfrm>
        </p:spPr>
        <p:txBody>
          <a:bodyPr/>
          <a:lstStyle/>
          <a:p>
            <a:r>
              <a:rPr lang="en-US" dirty="0"/>
              <a:t>Dataset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6E7A51-7E03-CCC9-2FC1-E9BD4AC6DF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2987" y="1912452"/>
            <a:ext cx="10265715" cy="441370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D76E4D-B0B1-0B49-F2D2-DA524A60CA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5453" y="1912452"/>
            <a:ext cx="6281040" cy="4413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388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2D5E3-4FA7-C6DD-7865-6E1399AAB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Dashboard</a:t>
            </a:r>
            <a:endParaRPr lang="en-IN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EFC8AC85-63BF-DEEF-89D6-3E625E440C9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25" b="6225"/>
          <a:stretch>
            <a:fillRect/>
          </a:stretch>
        </p:blipFill>
        <p:spPr>
          <a:xfrm>
            <a:off x="1154954" y="363894"/>
            <a:ext cx="9233920" cy="3909526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A8DFBC-44EA-21A6-0AEC-7156BD10842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Dales Dashboard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3210DB-E42B-5441-1EE7-72A91D018631}"/>
              </a:ext>
            </a:extLst>
          </p:cNvPr>
          <p:cNvSpPr/>
          <p:nvPr/>
        </p:nvSpPr>
        <p:spPr>
          <a:xfrm>
            <a:off x="6003634" y="2967335"/>
            <a:ext cx="18473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IN" sz="5400" b="1" cap="none" spc="0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65889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FFAF-378E-AF22-F1D5-7D5F6C453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4621B-6005-4F0F-8136-DD2C34944C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1. Regional Sales Performance: </a:t>
            </a:r>
          </a:p>
          <a:p>
            <a:r>
              <a:rPr lang="en-US" dirty="0"/>
              <a:t>The North West region has the highest sales (~49,723).</a:t>
            </a:r>
          </a:p>
          <a:p>
            <a:r>
              <a:rPr lang="en-US" dirty="0"/>
              <a:t>The Central and North East regions are almost equal (~41,800 each).The South regions (East &amp; West) are relatively lower.</a:t>
            </a:r>
          </a:p>
          <a:p>
            <a:r>
              <a:rPr lang="en-US" dirty="0"/>
              <a:t>👉 Insight: The business performs best in the North West, suggesting strong customer demand there. South regions may need more promotions or expansion strategies.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1974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7C900-D21E-129E-100C-89C67168D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DBBDB-4A6A-25F3-91B8-12CCE50CE5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2. Customer Contribution: </a:t>
            </a:r>
          </a:p>
          <a:p>
            <a:pPr marL="0" indent="0">
              <a:buNone/>
            </a:pPr>
            <a:r>
              <a:rPr lang="en-US" dirty="0"/>
              <a:t>Top customers (like C11 = 25,307, C10 = 17,534, C1 = 16,268) contribute heavily to total revenue.</a:t>
            </a:r>
          </a:p>
          <a:p>
            <a:pPr marL="0" indent="0">
              <a:buNone/>
            </a:pPr>
            <a:r>
              <a:rPr lang="en-US" dirty="0"/>
              <a:t>A few customers make up a large share of sales, showing dependency on key clients.</a:t>
            </a:r>
          </a:p>
          <a:p>
            <a:pPr marL="0" indent="0">
              <a:buNone/>
            </a:pPr>
            <a:r>
              <a:rPr lang="en-US" dirty="0"/>
              <a:t> Insight: A Pareto effect (80/20 rule) seems to apply — a small number of customers drive most sales. Loyalty programs should target these customers.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8900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C9C18-C7C2-3669-6085-9BBECCA2B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FDC70-B071-4DB5-8B12-710623C983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3. Sales Trends Over Time:</a:t>
            </a:r>
          </a:p>
          <a:p>
            <a:r>
              <a:rPr lang="en-US" dirty="0"/>
              <a:t>In 2021, total sales were 136,797.</a:t>
            </a:r>
          </a:p>
          <a:p>
            <a:r>
              <a:rPr lang="en-US" dirty="0"/>
              <a:t>Sales fluctuate across months (e.g., January ~14,051, February ~11,950).</a:t>
            </a:r>
          </a:p>
          <a:p>
            <a:r>
              <a:rPr lang="en-US" dirty="0"/>
              <a:t>Likely seasonal demand patterns (e.g., festive seasons boosting food sales).</a:t>
            </a:r>
          </a:p>
          <a:p>
            <a:r>
              <a:rPr lang="en-US" dirty="0"/>
              <a:t>Insight: Identifying peak vs. slow months can help plan inventory and promotions better.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6811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85704-7524-F9A9-865B-D894089D9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C2454-9156-EBF2-2ED3-F89D707B5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4. Delivery Person Performance:</a:t>
            </a:r>
          </a:p>
          <a:p>
            <a:r>
              <a:rPr lang="en-US" dirty="0"/>
              <a:t>Mahesh has the highest total sales (~33,512) across all regions.</a:t>
            </a:r>
          </a:p>
          <a:p>
            <a:r>
              <a:rPr lang="en-US" dirty="0"/>
              <a:t>Anil is next with ~25,343.</a:t>
            </a:r>
          </a:p>
          <a:p>
            <a:r>
              <a:rPr lang="en-US" dirty="0"/>
              <a:t>Different delivery persons perform better in specific regions (e.g., Anil strong in Central, Mahesh strong in South).</a:t>
            </a:r>
          </a:p>
          <a:p>
            <a:r>
              <a:rPr lang="en-US" dirty="0"/>
              <a:t>Insight: Sales performance isn’t evenly distributed — Mahesh is the top performer. Regional allocation of delivery staff may impact results.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0741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A92B8-FC2A-C84D-D1EB-861951AE2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7DD61-3F56-15B6-B20C-9F3FD72646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5. Profitability: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-Since we have Cost price vs Selling price, we can calculate margins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-For example,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   Balu Shahi → CP 1055 vs. SP 1067 (profit small).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   </a:t>
            </a:r>
            <a:r>
              <a:rPr lang="en-US" dirty="0">
                <a:solidFill>
                  <a:schemeClr val="tx1"/>
                </a:solidFill>
              </a:rPr>
              <a:t>Chicken Tikka → CP 541 vs. SP 790 (profit high).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-Insight: Some food items generate higher profit margins than others. Focus should be on promoting high-margin items.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1998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68</TotalTime>
  <Words>400</Words>
  <Application>Microsoft Office PowerPoint</Application>
  <PresentationFormat>Widescreen</PresentationFormat>
  <Paragraphs>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Ion Boardroom</vt:lpstr>
      <vt:lpstr>Food Sales &amp; Delivery Performance Dashboard</vt:lpstr>
      <vt:lpstr>Dataset</vt:lpstr>
      <vt:lpstr>Dashboard</vt:lpstr>
      <vt:lpstr>Insights</vt:lpstr>
      <vt:lpstr>Insights</vt:lpstr>
      <vt:lpstr>Insights</vt:lpstr>
      <vt:lpstr>Insights</vt:lpstr>
      <vt:lpstr>Insights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Anurag Patil</dc:creator>
  <cp:lastModifiedBy>Anurag Patil</cp:lastModifiedBy>
  <cp:revision>3</cp:revision>
  <dcterms:created xsi:type="dcterms:W3CDTF">2025-09-11T11:45:46Z</dcterms:created>
  <dcterms:modified xsi:type="dcterms:W3CDTF">2025-09-11T12:53:53Z</dcterms:modified>
</cp:coreProperties>
</file>